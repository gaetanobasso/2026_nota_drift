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lts" id="{04aa9b15-d253-4dca-4cc5-c46a6a520354}">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2800" b="1" dirty="0">
                <a:solidFill>
                  <a:srgbClr val="1F2937"/>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2800" b="1" dirty="0">
                <a:solidFill>
                  <a:srgbClr val="1F2937"/>
                </a:solidFill>
                <a:latin typeface="Arial" pitchFamily="34" charset="0"/>
                <a:ea typeface="Arial" pitchFamily="34" charset="-122"/>
                <a:cs typeface="Arial" pitchFamily="34" charset="-120"/>
              </a:rPr>
              <a:t>Euro area: wage response to oil and gas supply shocks (IV)</a:t>
            </a:r>
            <a:endParaRPr lang="en-US" sz="2800" dirty="0"/>
          </a:p>
        </p:txBody>
      </p:sp>
      <p:sp>
        <p:nvSpPr>
          <p:cNvPr id="3" name="Text 1"/>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Takeaway: </a:t>
            </a:r>
            <a:pPr indent="0" marL="0">
              <a:buNone/>
            </a:pPr>
            <a:r>
              <a:rPr lang="en-US" sz="1400" dirty="0">
                <a:solidFill>
                  <a:srgbClr val="C00000"/>
                </a:solidFill>
                <a:latin typeface="Arial" pitchFamily="34" charset="0"/>
                <a:ea typeface="Arial" pitchFamily="34" charset="-122"/>
                <a:cs typeface="Arial" pitchFamily="34" charset="-120"/>
              </a:rPr>
              <a:t>[TO BE COMPLETED: response of euro-area negotiated and hourly wages to oil and gas price increases driven by supply shocks]</a:t>
            </a:r>
            <a:endParaRPr lang="en-US" sz="1400" dirty="0"/>
          </a:p>
        </p:txBody>
      </p:sp>
      <p:sp>
        <p:nvSpPr>
          <p:cNvPr id="4" name="Text 2"/>
          <p:cNvSpPr txBox="1"/>
          <p:nvPr/>
        </p:nvSpPr>
        <p:spPr>
          <a:xfrm>
            <a:off x="457200"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Negotiated wages</a:t>
            </a:r>
            <a:endParaRPr lang="en-US" sz="1600" dirty="0"/>
          </a:p>
        </p:txBody>
      </p:sp>
      <p:sp>
        <p:nvSpPr>
          <p:cNvPr id="5" name="Text 3"/>
          <p:cNvSpPr txBox="1"/>
          <p:nvPr/>
        </p:nvSpPr>
        <p:spPr>
          <a:xfrm>
            <a:off x="6245352"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Gross wages per hour worked</a:t>
            </a:r>
            <a:endParaRPr lang="en-US" sz="1600" dirty="0"/>
          </a:p>
        </p:txBody>
      </p:sp>
      <p:sp>
        <p:nvSpPr>
          <p:cNvPr id="6" name="placeholder lp_iv_og_EA_contr.png"/>
          <p:cNvSpPr txBox="1"/>
          <p:nvPr/>
        </p:nvSpPr>
        <p:spPr>
          <a:xfrm>
            <a:off x="457200" y="1783080"/>
            <a:ext cx="5486400" cy="3986784"/>
          </a:xfrm>
          <a:prstGeom prst="rect">
            <a:avLst/>
          </a:prstGeom>
          <a:solidFill>
            <a:srgbClr val="F1F3F5"/>
          </a:solidFill>
          <a:ln w="9525">
            <a:solidFill>
              <a:srgbClr val="D0D4DA"/>
            </a:solidFill>
          </a:ln>
        </p:spPr>
        <p:txBody>
          <a:bodyPr wrap="square" rtlCol="0" anchor="ctr"/>
          <a:lstStyle/>
          <a:p>
            <a:pPr algn="ctr" indent="0" marL="0">
              <a:buNone/>
            </a:pPr>
            <a:r>
              <a:rPr lang="en-US" sz="1400" dirty="0">
                <a:solidFill>
                  <a:srgbClr val="5B6472"/>
                </a:solidFill>
                <a:latin typeface="Arial" pitchFamily="34" charset="0"/>
                <a:ea typeface="Arial" pitchFamily="34" charset="-122"/>
                <a:cs typeface="Arial" pitchFamily="34" charset="-120"/>
              </a:rPr>
              <a:t>Graph to be inserted: graphs/lp_iv_og_EA_contr.png</a:t>
            </a:r>
            <a:endParaRPr lang="en-US" sz="1400" dirty="0"/>
          </a:p>
          <a:p>
            <a:pPr algn="ctr" indent="0" marL="0">
              <a:buNone/>
            </a:pPr>
            <a:r>
              <a:rPr lang="en-US" sz="1400" dirty="0">
                <a:solidFill>
                  <a:srgbClr val="5B6472"/>
                </a:solidFill>
                <a:latin typeface="Arial" pitchFamily="34" charset="0"/>
                <a:ea typeface="Arial" pitchFamily="34" charset="-122"/>
                <a:cs typeface="Arial" pitchFamily="34" charset="-120"/>
              </a:rPr>
              <a:t>(produced by the Stata run of master.do)</a:t>
            </a:r>
            <a:endParaRPr lang="en-US" sz="1400" dirty="0"/>
          </a:p>
        </p:txBody>
      </p:sp>
      <p:sp>
        <p:nvSpPr>
          <p:cNvPr id="7" name="placeholder lp_iv_og_EA_wageH.png"/>
          <p:cNvSpPr txBox="1"/>
          <p:nvPr/>
        </p:nvSpPr>
        <p:spPr>
          <a:xfrm>
            <a:off x="6245352" y="1783080"/>
            <a:ext cx="5486400" cy="3986784"/>
          </a:xfrm>
          <a:prstGeom prst="rect">
            <a:avLst/>
          </a:prstGeom>
          <a:solidFill>
            <a:srgbClr val="F1F3F5"/>
          </a:solidFill>
          <a:ln w="9525">
            <a:solidFill>
              <a:srgbClr val="D0D4DA"/>
            </a:solidFill>
          </a:ln>
        </p:spPr>
        <p:txBody>
          <a:bodyPr wrap="square" rtlCol="0" anchor="ctr"/>
          <a:lstStyle/>
          <a:p>
            <a:pPr algn="ctr" indent="0" marL="0">
              <a:buNone/>
            </a:pPr>
            <a:r>
              <a:rPr lang="en-US" sz="1400" dirty="0">
                <a:solidFill>
                  <a:srgbClr val="5B6472"/>
                </a:solidFill>
                <a:latin typeface="Arial" pitchFamily="34" charset="0"/>
                <a:ea typeface="Arial" pitchFamily="34" charset="-122"/>
                <a:cs typeface="Arial" pitchFamily="34" charset="-120"/>
              </a:rPr>
              <a:t>Graph to be inserted: graphs/lp_iv_og_EA_wageH.png</a:t>
            </a:r>
            <a:endParaRPr lang="en-US" sz="1400" dirty="0"/>
          </a:p>
          <a:p>
            <a:pPr algn="ctr" indent="0" marL="0">
              <a:buNone/>
            </a:pPr>
            <a:r>
              <a:rPr lang="en-US" sz="1400" dirty="0">
                <a:solidFill>
                  <a:srgbClr val="5B6472"/>
                </a:solidFill>
                <a:latin typeface="Arial" pitchFamily="34" charset="0"/>
                <a:ea typeface="Arial" pitchFamily="34" charset="-122"/>
                <a:cs typeface="Arial" pitchFamily="34" charset="-120"/>
              </a:rPr>
              <a:t>(produced by the Stata run of master.do)</a:t>
            </a:r>
            <a:endParaRPr lang="en-US" sz="1400" dirty="0"/>
          </a:p>
        </p:txBody>
      </p:sp>
      <p:sp>
        <p:nvSpPr>
          <p:cNvPr id="8" name="Text 6"/>
          <p:cNvSpPr txBox="1"/>
          <p:nvPr/>
        </p:nvSpPr>
        <p:spPr>
          <a:xfrm>
            <a:off x="457200" y="5897880"/>
            <a:ext cx="11274552" cy="685800"/>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Response (percentage points) of year-on-year wage growth to a 10 percentage point increase in the year-on-year growth of the oil and natural gas prices; 90% confidence bands. 2SLS local projections: the oil price is instrumented with the Mori–Peersman oil supply news shocks, the gas price with the Alessandri–Gazzani gas supply shocks (three monthly shocks per quarter as instruments). Euro-area time series, Newey–West standard errors. Sample (shock dates): negotiated wages, [sample period: available after running master.do]; hourly wages, [sample period: available after running master.do].</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2800" b="1" dirty="0">
                <a:solidFill>
                  <a:srgbClr val="1F2937"/>
                </a:solidFill>
                <a:latin typeface="Arial" pitchFamily="34" charset="0"/>
                <a:ea typeface="Arial" pitchFamily="34" charset="-122"/>
                <a:cs typeface="Arial" pitchFamily="34" charset="-120"/>
              </a:rPr>
              <a:t>Countries: wage response to oil and gas supply shocks (IV)</a:t>
            </a:r>
            <a:endParaRPr lang="en-US" sz="2800" dirty="0"/>
          </a:p>
        </p:txBody>
      </p:sp>
      <p:sp>
        <p:nvSpPr>
          <p:cNvPr id="3" name="Text 1"/>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Takeaway: </a:t>
            </a:r>
            <a:pPr indent="0" marL="0">
              <a:buNone/>
            </a:pPr>
            <a:r>
              <a:rPr lang="en-US" sz="1400" dirty="0">
                <a:solidFill>
                  <a:srgbClr val="C00000"/>
                </a:solidFill>
                <a:latin typeface="Arial" pitchFamily="34" charset="0"/>
                <a:ea typeface="Arial" pitchFamily="34" charset="-122"/>
                <a:cs typeface="Arial" pitchFamily="34" charset="-120"/>
              </a:rPr>
              <a:t>[TO BE COMPLETED: cross-country differences in the IV responses and oil versus gas]</a:t>
            </a:r>
            <a:endParaRPr lang="en-US" sz="1400" dirty="0"/>
          </a:p>
        </p:txBody>
      </p:sp>
      <p:sp>
        <p:nvSpPr>
          <p:cNvPr id="4" name="Text 2"/>
          <p:cNvSpPr txBox="1"/>
          <p:nvPr/>
        </p:nvSpPr>
        <p:spPr>
          <a:xfrm>
            <a:off x="457200"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Negotiated wages</a:t>
            </a:r>
            <a:endParaRPr lang="en-US" sz="1600" dirty="0"/>
          </a:p>
        </p:txBody>
      </p:sp>
      <p:sp>
        <p:nvSpPr>
          <p:cNvPr id="5" name="Text 3"/>
          <p:cNvSpPr txBox="1"/>
          <p:nvPr/>
        </p:nvSpPr>
        <p:spPr>
          <a:xfrm>
            <a:off x="6245352"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Gross wages per hour worked</a:t>
            </a:r>
            <a:endParaRPr lang="en-US" sz="1600" dirty="0"/>
          </a:p>
        </p:txBody>
      </p:sp>
      <p:sp>
        <p:nvSpPr>
          <p:cNvPr id="6" name="placeholder lp_iv_og_ctry_contr_sq.png"/>
          <p:cNvSpPr txBox="1"/>
          <p:nvPr/>
        </p:nvSpPr>
        <p:spPr>
          <a:xfrm>
            <a:off x="1188720" y="1783080"/>
            <a:ext cx="4023360" cy="4023360"/>
          </a:xfrm>
          <a:prstGeom prst="rect">
            <a:avLst/>
          </a:prstGeom>
          <a:solidFill>
            <a:srgbClr val="F1F3F5"/>
          </a:solidFill>
          <a:ln w="9525">
            <a:solidFill>
              <a:srgbClr val="D0D4DA"/>
            </a:solidFill>
          </a:ln>
        </p:spPr>
        <p:txBody>
          <a:bodyPr wrap="square" rtlCol="0" anchor="ctr"/>
          <a:lstStyle/>
          <a:p>
            <a:pPr algn="ctr" indent="0" marL="0">
              <a:buNone/>
            </a:pPr>
            <a:r>
              <a:rPr lang="en-US" sz="1400" dirty="0">
                <a:solidFill>
                  <a:srgbClr val="5B6472"/>
                </a:solidFill>
                <a:latin typeface="Arial" pitchFamily="34" charset="0"/>
                <a:ea typeface="Arial" pitchFamily="34" charset="-122"/>
                <a:cs typeface="Arial" pitchFamily="34" charset="-120"/>
              </a:rPr>
              <a:t>Graph to be inserted: graphs/lp_iv_og_ctry_contr_sq.png</a:t>
            </a:r>
            <a:endParaRPr lang="en-US" sz="1400" dirty="0"/>
          </a:p>
          <a:p>
            <a:pPr algn="ctr" indent="0" marL="0">
              <a:buNone/>
            </a:pPr>
            <a:r>
              <a:rPr lang="en-US" sz="1400" dirty="0">
                <a:solidFill>
                  <a:srgbClr val="5B6472"/>
                </a:solidFill>
                <a:latin typeface="Arial" pitchFamily="34" charset="0"/>
                <a:ea typeface="Arial" pitchFamily="34" charset="-122"/>
                <a:cs typeface="Arial" pitchFamily="34" charset="-120"/>
              </a:rPr>
              <a:t>(produced by the Stata run of master.do)</a:t>
            </a:r>
            <a:endParaRPr lang="en-US" sz="1400" dirty="0"/>
          </a:p>
        </p:txBody>
      </p:sp>
      <p:sp>
        <p:nvSpPr>
          <p:cNvPr id="7" name="placeholder lp_iv_og_ctry_wageH_sq.png"/>
          <p:cNvSpPr txBox="1"/>
          <p:nvPr/>
        </p:nvSpPr>
        <p:spPr>
          <a:xfrm>
            <a:off x="6976872" y="1783080"/>
            <a:ext cx="4023360" cy="4023360"/>
          </a:xfrm>
          <a:prstGeom prst="rect">
            <a:avLst/>
          </a:prstGeom>
          <a:solidFill>
            <a:srgbClr val="F1F3F5"/>
          </a:solidFill>
          <a:ln w="9525">
            <a:solidFill>
              <a:srgbClr val="D0D4DA"/>
            </a:solidFill>
          </a:ln>
        </p:spPr>
        <p:txBody>
          <a:bodyPr wrap="square" rtlCol="0" anchor="ctr"/>
          <a:lstStyle/>
          <a:p>
            <a:pPr algn="ctr" indent="0" marL="0">
              <a:buNone/>
            </a:pPr>
            <a:r>
              <a:rPr lang="en-US" sz="1400" dirty="0">
                <a:solidFill>
                  <a:srgbClr val="5B6472"/>
                </a:solidFill>
                <a:latin typeface="Arial" pitchFamily="34" charset="0"/>
                <a:ea typeface="Arial" pitchFamily="34" charset="-122"/>
                <a:cs typeface="Arial" pitchFamily="34" charset="-120"/>
              </a:rPr>
              <a:t>Graph to be inserted: graphs/lp_iv_og_ctry_wageH_sq.png</a:t>
            </a:r>
            <a:endParaRPr lang="en-US" sz="1400" dirty="0"/>
          </a:p>
          <a:p>
            <a:pPr algn="ctr" indent="0" marL="0">
              <a:buNone/>
            </a:pPr>
            <a:r>
              <a:rPr lang="en-US" sz="1400" dirty="0">
                <a:solidFill>
                  <a:srgbClr val="5B6472"/>
                </a:solidFill>
                <a:latin typeface="Arial" pitchFamily="34" charset="0"/>
                <a:ea typeface="Arial" pitchFamily="34" charset="-122"/>
                <a:cs typeface="Arial" pitchFamily="34" charset="-120"/>
              </a:rPr>
              <a:t>(produced by the Stata run of master.do)</a:t>
            </a:r>
            <a:endParaRPr lang="en-US" sz="1400" dirty="0"/>
          </a:p>
        </p:txBody>
      </p:sp>
      <p:sp>
        <p:nvSpPr>
          <p:cNvPr id="8" name="Text 6"/>
          <p:cNvSpPr txBox="1"/>
          <p:nvPr/>
        </p:nvSpPr>
        <p:spPr>
          <a:xfrm>
            <a:off x="457200" y="5897880"/>
            <a:ext cx="11274552" cy="685800"/>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Response (percentage points) of year-on-year wage growth to a 10 percentage point increase in the year-on-year growth of the oil and natural gas prices; 90% confidence bands. 2SLS local projections: the oil price is instrumented with the Mori–Peersman oil supply news shocks, the gas price with the Alessandri–Gazzani gas supply shocks (three monthly shocks per quarter as instruments). Time series for the euro area and each country, Newey–West standard errors; same vertical scale within each graph; the sample period (shock dates) of each panel is shown under its name.</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 price shocks and euro-area wages</dc:title>
  <dc:subject>PptxGenJS Presentation</dc:subject>
  <dc:creator>PptxGenJS</dc:creator>
  <cp:lastModifiedBy>PptxGenJS</cp:lastModifiedBy>
  <cp:revision>1</cp:revision>
  <dcterms:created xsi:type="dcterms:W3CDTF">2026-10-06T21:34:18Z</dcterms:created>
  <dcterms:modified xsi:type="dcterms:W3CDTF">2026-10-06T21:34:18Z</dcterms:modified>
</cp:coreProperties>
</file>