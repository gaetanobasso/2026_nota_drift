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Lst>
  <p:notesMasterIdLst>
    <p:notesMasterId r:id="rId4"/>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Results" id="{5790a8ea-ef7c-a654-25d7-3cd5ec7b76f9}">
          <p14:sldIdLst>
            <p14:sldId id="256"/>
            <p14:sldId id="257"/>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notesMaster" Target="notesMasters/notesMaster1.xml"/><Relationship Id="rId5" Type="http://schemas.openxmlformats.org/officeDocument/2006/relationships/presProps" Target="presProps.xml"/><Relationship Id="rId6" Type="http://schemas.openxmlformats.org/officeDocument/2006/relationships/viewProps" Target="viewProps.xml"/><Relationship Id="rId7" Type="http://schemas.openxmlformats.org/officeDocument/2006/relationships/theme" Target="theme/theme1.xml"/><Relationship Id="rId8"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_ONLY">
    <p:bg>
      <p:bgPr>
        <a:solidFill>
          <a:srgbClr val="FFFFFF"/>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11274552" cy="640080"/>
          </a:xfrm>
          <a:prstGeom prst="rect">
            <a:avLst/>
          </a:prstGeom>
          <a:noFill/>
          <a:ln/>
        </p:spPr>
        <p:txBody>
          <a:bodyPr wrap="square" rtlCol="0"/>
          <a:lstStyle>
            <a:lvl1pPr algn="l" indent="0" marL="0">
              <a:buNone/>
              <a:defRPr lang="en-US" sz="2800" b="1" dirty="0">
                <a:solidFill>
                  <a:srgbClr val="1F2937"/>
                </a:solidFill>
                <a:latin typeface="Arial" pitchFamily="34" charset="0"/>
                <a:ea typeface="Arial" pitchFamily="34" charset="-122"/>
                <a:cs typeface="Arial" pitchFamily="34" charset="-120"/>
              </a:defRPr>
            </a:lvl1pPr>
          </a:lstStyle>
          <a:p>
            <a:pPr algn="l" indent="0" marL="0">
              <a:buNone/>
            </a:pPr>
            <a:endParaRPr lang="en-US" sz="2800" dirty="0"/>
          </a:p>
        </p:txBody>
      </p:sp>
      <p:sp>
        <p:nvSpPr>
          <p:cNvPr id="25" name="Slide Number Placeholder 0"/>
          <p:cNvSpPr>
            <a:spLocks noGrp="1"/>
          </p:cNvSpPr>
          <p:nvPr>
            <p:ph type="sldNum" sz="quarter" idx="4294967295"/>
          </p:nvPr>
        </p:nvSpPr>
        <p:spPr>
          <a:xfrm>
            <a:off x="1133856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472"/>
                </a:solidFill>
                <a:latin typeface="Arial"/>
                <a:ea typeface="Arial"/>
                <a:cs typeface="Arial"/>
              </a:defRPr>
            </a:lvl1pPr>
          </a:lstStyle>
          <a:p>
            <a:pPr algn="l"/>
            <a:fld id="{F7021451-1387-4CA6-816F-3879F97B5CBC}" type="slidenum">
              <a:rPr b="0" lang="en-US"/>
              <a:t>1002</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33856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472"/>
                </a:solidFill>
                <a:latin typeface="Arial"/>
                <a:ea typeface="Arial"/>
                <a:cs typeface="Arial"/>
              </a:defRPr>
            </a:lvl1pPr>
          </a:lstStyle>
          <a:p>
            <a:pPr algn="l"/>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slideLayout" Target="../slideLayouts/slideLayout2.xml"/><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slideLayout" Target="../slideLayouts/slideLayout2.xml"/><Relationship Id="rId4" Type="http://schemas.openxmlformats.org/officeDocument/2006/relationships/notesSlide" Target="../notesSlides/notesSlide2.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11274552" cy="640080"/>
          </a:xfrm>
          <a:prstGeom prst="rect">
            <a:avLst/>
          </a:prstGeom>
          <a:noFill/>
          <a:ln/>
        </p:spPr>
        <p:txBody>
          <a:bodyPr wrap="square" lIns="0" tIns="0" rIns="0" bIns="0" rtlCol="0" anchor="ctr"/>
          <a:lstStyle/>
          <a:p>
            <a:pPr algn="l" indent="0" marL="0">
              <a:buNone/>
            </a:pPr>
            <a:r>
              <a:rPr lang="en-US" sz="2800" b="1" dirty="0">
                <a:solidFill>
                  <a:srgbClr val="1F2937"/>
                </a:solidFill>
                <a:latin typeface="Arial" pitchFamily="34" charset="0"/>
                <a:ea typeface="Arial" pitchFamily="34" charset="-122"/>
                <a:cs typeface="Arial" pitchFamily="34" charset="-120"/>
              </a:rPr>
              <a:t>Euro area: wage response to oil and gas supply shocks (IV)</a:t>
            </a:r>
            <a:endParaRPr lang="en-US" sz="2800" dirty="0"/>
          </a:p>
        </p:txBody>
      </p:sp>
      <p:sp>
        <p:nvSpPr>
          <p:cNvPr id="3" name="Text 1"/>
          <p:cNvSpPr txBox="1"/>
          <p:nvPr/>
        </p:nvSpPr>
        <p:spPr>
          <a:xfrm>
            <a:off x="457200" y="914400"/>
            <a:ext cx="11274552" cy="365760"/>
          </a:xfrm>
          <a:prstGeom prst="rect">
            <a:avLst/>
          </a:prstGeom>
          <a:noFill/>
          <a:ln/>
        </p:spPr>
        <p:txBody>
          <a:bodyPr wrap="square" lIns="0" tIns="0" rIns="0" bIns="0" rtlCol="0" anchor="ctr"/>
          <a:lstStyle/>
          <a:p>
            <a:pPr indent="0" marL="0">
              <a:buNone/>
            </a:pPr>
            <a:r>
              <a:rPr lang="en-US" sz="1400" b="1" dirty="0">
                <a:solidFill>
                  <a:srgbClr val="1F2937"/>
                </a:solidFill>
                <a:latin typeface="Arial" pitchFamily="34" charset="0"/>
                <a:ea typeface="Arial" pitchFamily="34" charset="-122"/>
                <a:cs typeface="Arial" pitchFamily="34" charset="-120"/>
              </a:rPr>
              <a:t>Takeaway: </a:t>
            </a:r>
            <a:pPr indent="0" marL="0">
              <a:buNone/>
            </a:pPr>
            <a:r>
              <a:rPr lang="en-US" sz="1400" dirty="0">
                <a:solidFill>
                  <a:srgbClr val="C00000"/>
                </a:solidFill>
                <a:latin typeface="Arial" pitchFamily="34" charset="0"/>
                <a:ea typeface="Arial" pitchFamily="34" charset="-122"/>
                <a:cs typeface="Arial" pitchFamily="34" charset="-120"/>
              </a:rPr>
              <a:t>[TO BE COMPLETED: response of euro-area negotiated and hourly wages to oil and gas price increases driven by supply shocks]</a:t>
            </a:r>
            <a:endParaRPr lang="en-US" sz="1400" dirty="0"/>
          </a:p>
        </p:txBody>
      </p:sp>
      <p:sp>
        <p:nvSpPr>
          <p:cNvPr id="4" name="Text 2"/>
          <p:cNvSpPr txBox="1"/>
          <p:nvPr/>
        </p:nvSpPr>
        <p:spPr>
          <a:xfrm>
            <a:off x="457200" y="1371600"/>
            <a:ext cx="5486400" cy="365760"/>
          </a:xfrm>
          <a:prstGeom prst="rect">
            <a:avLst/>
          </a:prstGeom>
          <a:noFill/>
          <a:ln/>
        </p:spPr>
        <p:txBody>
          <a:bodyPr wrap="square" lIns="0" tIns="0" rIns="0" bIns="0" rtlCol="0" anchor="ctr"/>
          <a:lstStyle/>
          <a:p>
            <a:pPr algn="ctr" indent="0" marL="0">
              <a:buNone/>
            </a:pPr>
            <a:r>
              <a:rPr lang="en-US" sz="1600" b="1" dirty="0">
                <a:solidFill>
                  <a:srgbClr val="1F2937"/>
                </a:solidFill>
                <a:latin typeface="Arial" pitchFamily="34" charset="0"/>
                <a:ea typeface="Arial" pitchFamily="34" charset="-122"/>
                <a:cs typeface="Arial" pitchFamily="34" charset="-120"/>
              </a:rPr>
              <a:t>Negotiated wages</a:t>
            </a:r>
            <a:endParaRPr lang="en-US" sz="1600" dirty="0"/>
          </a:p>
        </p:txBody>
      </p:sp>
      <p:sp>
        <p:nvSpPr>
          <p:cNvPr id="5" name="Text 3"/>
          <p:cNvSpPr txBox="1"/>
          <p:nvPr/>
        </p:nvSpPr>
        <p:spPr>
          <a:xfrm>
            <a:off x="6245352" y="1371600"/>
            <a:ext cx="5486400" cy="365760"/>
          </a:xfrm>
          <a:prstGeom prst="rect">
            <a:avLst/>
          </a:prstGeom>
          <a:noFill/>
          <a:ln/>
        </p:spPr>
        <p:txBody>
          <a:bodyPr wrap="square" lIns="0" tIns="0" rIns="0" bIns="0" rtlCol="0" anchor="ctr"/>
          <a:lstStyle/>
          <a:p>
            <a:pPr algn="ctr" indent="0" marL="0">
              <a:buNone/>
            </a:pPr>
            <a:r>
              <a:rPr lang="en-US" sz="1600" b="1" dirty="0">
                <a:solidFill>
                  <a:srgbClr val="1F2937"/>
                </a:solidFill>
                <a:latin typeface="Arial" pitchFamily="34" charset="0"/>
                <a:ea typeface="Arial" pitchFamily="34" charset="-122"/>
                <a:cs typeface="Arial" pitchFamily="34" charset="-120"/>
              </a:rPr>
              <a:t>Gross wages per hour worked</a:t>
            </a:r>
            <a:endParaRPr lang="en-US" sz="1600" dirty="0"/>
          </a:p>
        </p:txBody>
      </p:sp>
      <p:pic>
        <p:nvPicPr>
          <p:cNvPr id="6" name="lp_iv_og_EA_contr.png" descr="lp_iv_og_EA_contr.png">    </p:cNvPr>
          <p:cNvPicPr>
            <a:picLocks noChangeAspect="1"/>
          </p:cNvPicPr>
          <p:nvPr/>
        </p:nvPicPr>
        <p:blipFill>
          <a:blip r:embed="rId1"/>
          <a:stretch>
            <a:fillRect/>
          </a:stretch>
        </p:blipFill>
        <p:spPr>
          <a:xfrm>
            <a:off x="457200" y="1783080"/>
            <a:ext cx="5486400" cy="3986784"/>
          </a:xfrm>
          <a:prstGeom prst="rect">
            <a:avLst/>
          </a:prstGeom>
        </p:spPr>
      </p:pic>
      <p:pic>
        <p:nvPicPr>
          <p:cNvPr id="7" name="lp_iv_og_EA_wageH.png" descr="lp_iv_og_EA_wageH.png">    </p:cNvPr>
          <p:cNvPicPr>
            <a:picLocks noChangeAspect="1"/>
          </p:cNvPicPr>
          <p:nvPr/>
        </p:nvPicPr>
        <p:blipFill>
          <a:blip r:embed="rId2"/>
          <a:stretch>
            <a:fillRect/>
          </a:stretch>
        </p:blipFill>
        <p:spPr>
          <a:xfrm>
            <a:off x="6245352" y="1783080"/>
            <a:ext cx="5486400" cy="3986784"/>
          </a:xfrm>
          <a:prstGeom prst="rect">
            <a:avLst/>
          </a:prstGeom>
        </p:spPr>
      </p:pic>
      <p:sp>
        <p:nvSpPr>
          <p:cNvPr id="8" name="Text 4"/>
          <p:cNvSpPr txBox="1"/>
          <p:nvPr/>
        </p:nvSpPr>
        <p:spPr>
          <a:xfrm>
            <a:off x="457200" y="5897880"/>
            <a:ext cx="11274552" cy="685800"/>
          </a:xfrm>
          <a:prstGeom prst="rect">
            <a:avLst/>
          </a:prstGeom>
          <a:noFill/>
          <a:ln/>
        </p:spPr>
        <p:txBody>
          <a:bodyPr wrap="square" lIns="0" tIns="0" rIns="0" bIns="0" rtlCol="0" anchor="t"/>
          <a:lstStyle/>
          <a:p>
            <a:pPr indent="0" marL="0">
              <a:buNone/>
            </a:pPr>
            <a:r>
              <a:rPr lang="en-US" sz="1000" dirty="0">
                <a:solidFill>
                  <a:srgbClr val="5B6472"/>
                </a:solidFill>
                <a:latin typeface="Arial" pitchFamily="34" charset="0"/>
                <a:ea typeface="Arial" pitchFamily="34" charset="-122"/>
                <a:cs typeface="Arial" pitchFamily="34" charset="-120"/>
              </a:rPr>
              <a:t>Response (percentage points) of year-on-year wage growth to a 10% increase in the oil and natural gas prices; 90% confidence bands. 2SLS local projections: the oil price is instrumented with the Mori–Peersman oil supply news shocks, the gas price with the Alessandri–Gazzani gas supply shocks (quarterly average of the monthly shocks). Euro-area time series, Newey–West standard errors. Sample (shock dates): negotiated wages, oil 2001q1–2025q4; gas 2008q1–2025q4; hourly wages, oil 2001q1–2025q4; gas 2008q1–2025q4.</a:t>
            </a:r>
            <a:endParaRPr lang="en-US" sz="1000" dirty="0"/>
          </a:p>
        </p:txBody>
      </p:sp>
      <p:sp>
        <p:nvSpPr>
          <p:cNvPr id="25" name="Slide Number Placeholder 0"/>
          <p:cNvSpPr>
            <a:spLocks noGrp="1"/>
          </p:cNvSpPr>
          <p:nvPr>
            <p:ph type="sldNum" sz="quarter" idx="4294967295"/>
          </p:nvPr>
        </p:nvSpPr>
        <p:spPr>
          <a:xfrm>
            <a:off x="1133856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472"/>
                </a:solidFill>
                <a:latin typeface="Arial"/>
                <a:ea typeface="Arial"/>
                <a:cs typeface="Arial"/>
              </a:defRPr>
            </a:lvl1pPr>
          </a:lstStyle>
          <a:p>
            <a:pPr algn="l"/>
            <a:fld id="{F7021451-1387-4CA6-816F-3879F97B5CBC}" type="slidenum">
              <a:rPr b="0" lang="en-US"/>
              <a:t>1</a:t>
            </a:fld>
            <a:endParaRPr lang="en-US"/>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11274552" cy="640080"/>
          </a:xfrm>
          <a:prstGeom prst="rect">
            <a:avLst/>
          </a:prstGeom>
          <a:noFill/>
          <a:ln/>
        </p:spPr>
        <p:txBody>
          <a:bodyPr wrap="square" lIns="0" tIns="0" rIns="0" bIns="0" rtlCol="0" anchor="ctr"/>
          <a:lstStyle/>
          <a:p>
            <a:pPr algn="l" indent="0" marL="0">
              <a:buNone/>
            </a:pPr>
            <a:r>
              <a:rPr lang="en-US" sz="2800" b="1" dirty="0">
                <a:solidFill>
                  <a:srgbClr val="1F2937"/>
                </a:solidFill>
                <a:latin typeface="Arial" pitchFamily="34" charset="0"/>
                <a:ea typeface="Arial" pitchFamily="34" charset="-122"/>
                <a:cs typeface="Arial" pitchFamily="34" charset="-120"/>
              </a:rPr>
              <a:t>Countries: wage response to oil and gas supply shocks (IV)</a:t>
            </a:r>
            <a:endParaRPr lang="en-US" sz="2800" dirty="0"/>
          </a:p>
        </p:txBody>
      </p:sp>
      <p:sp>
        <p:nvSpPr>
          <p:cNvPr id="3" name="Text 1"/>
          <p:cNvSpPr txBox="1"/>
          <p:nvPr/>
        </p:nvSpPr>
        <p:spPr>
          <a:xfrm>
            <a:off x="457200" y="914400"/>
            <a:ext cx="11274552" cy="365760"/>
          </a:xfrm>
          <a:prstGeom prst="rect">
            <a:avLst/>
          </a:prstGeom>
          <a:noFill/>
          <a:ln/>
        </p:spPr>
        <p:txBody>
          <a:bodyPr wrap="square" lIns="0" tIns="0" rIns="0" bIns="0" rtlCol="0" anchor="ctr"/>
          <a:lstStyle/>
          <a:p>
            <a:pPr indent="0" marL="0">
              <a:buNone/>
            </a:pPr>
            <a:r>
              <a:rPr lang="en-US" sz="1400" b="1" dirty="0">
                <a:solidFill>
                  <a:srgbClr val="1F2937"/>
                </a:solidFill>
                <a:latin typeface="Arial" pitchFamily="34" charset="0"/>
                <a:ea typeface="Arial" pitchFamily="34" charset="-122"/>
                <a:cs typeface="Arial" pitchFamily="34" charset="-120"/>
              </a:rPr>
              <a:t>Takeaway: </a:t>
            </a:r>
            <a:pPr indent="0" marL="0">
              <a:buNone/>
            </a:pPr>
            <a:r>
              <a:rPr lang="en-US" sz="1400" dirty="0">
                <a:solidFill>
                  <a:srgbClr val="C00000"/>
                </a:solidFill>
                <a:latin typeface="Arial" pitchFamily="34" charset="0"/>
                <a:ea typeface="Arial" pitchFamily="34" charset="-122"/>
                <a:cs typeface="Arial" pitchFamily="34" charset="-120"/>
              </a:rPr>
              <a:t>[TO BE COMPLETED: cross-country differences in the IV responses and oil versus gas]</a:t>
            </a:r>
            <a:endParaRPr lang="en-US" sz="1400" dirty="0"/>
          </a:p>
        </p:txBody>
      </p:sp>
      <p:sp>
        <p:nvSpPr>
          <p:cNvPr id="4" name="Text 2"/>
          <p:cNvSpPr txBox="1"/>
          <p:nvPr/>
        </p:nvSpPr>
        <p:spPr>
          <a:xfrm>
            <a:off x="457200" y="1371600"/>
            <a:ext cx="5486400" cy="365760"/>
          </a:xfrm>
          <a:prstGeom prst="rect">
            <a:avLst/>
          </a:prstGeom>
          <a:noFill/>
          <a:ln/>
        </p:spPr>
        <p:txBody>
          <a:bodyPr wrap="square" lIns="0" tIns="0" rIns="0" bIns="0" rtlCol="0" anchor="ctr"/>
          <a:lstStyle/>
          <a:p>
            <a:pPr algn="ctr" indent="0" marL="0">
              <a:buNone/>
            </a:pPr>
            <a:r>
              <a:rPr lang="en-US" sz="1600" b="1" dirty="0">
                <a:solidFill>
                  <a:srgbClr val="1F2937"/>
                </a:solidFill>
                <a:latin typeface="Arial" pitchFamily="34" charset="0"/>
                <a:ea typeface="Arial" pitchFamily="34" charset="-122"/>
                <a:cs typeface="Arial" pitchFamily="34" charset="-120"/>
              </a:rPr>
              <a:t>Negotiated wages</a:t>
            </a:r>
            <a:endParaRPr lang="en-US" sz="1600" dirty="0"/>
          </a:p>
        </p:txBody>
      </p:sp>
      <p:sp>
        <p:nvSpPr>
          <p:cNvPr id="5" name="Text 3"/>
          <p:cNvSpPr txBox="1"/>
          <p:nvPr/>
        </p:nvSpPr>
        <p:spPr>
          <a:xfrm>
            <a:off x="6245352" y="1371600"/>
            <a:ext cx="5486400" cy="365760"/>
          </a:xfrm>
          <a:prstGeom prst="rect">
            <a:avLst/>
          </a:prstGeom>
          <a:noFill/>
          <a:ln/>
        </p:spPr>
        <p:txBody>
          <a:bodyPr wrap="square" lIns="0" tIns="0" rIns="0" bIns="0" rtlCol="0" anchor="ctr"/>
          <a:lstStyle/>
          <a:p>
            <a:pPr algn="ctr" indent="0" marL="0">
              <a:buNone/>
            </a:pPr>
            <a:r>
              <a:rPr lang="en-US" sz="1600" b="1" dirty="0">
                <a:solidFill>
                  <a:srgbClr val="1F2937"/>
                </a:solidFill>
                <a:latin typeface="Arial" pitchFamily="34" charset="0"/>
                <a:ea typeface="Arial" pitchFamily="34" charset="-122"/>
                <a:cs typeface="Arial" pitchFamily="34" charset="-120"/>
              </a:rPr>
              <a:t>Gross wages per hour worked</a:t>
            </a:r>
            <a:endParaRPr lang="en-US" sz="1600" dirty="0"/>
          </a:p>
        </p:txBody>
      </p:sp>
      <p:pic>
        <p:nvPicPr>
          <p:cNvPr id="6" name="lp_iv_og_ctry_contr_sq.png" descr="lp_iv_og_ctry_contr_sq.png">    </p:cNvPr>
          <p:cNvPicPr>
            <a:picLocks noChangeAspect="1"/>
          </p:cNvPicPr>
          <p:nvPr/>
        </p:nvPicPr>
        <p:blipFill>
          <a:blip r:embed="rId1"/>
          <a:stretch>
            <a:fillRect/>
          </a:stretch>
        </p:blipFill>
        <p:spPr>
          <a:xfrm>
            <a:off x="1188720" y="1783080"/>
            <a:ext cx="4023360" cy="4023360"/>
          </a:xfrm>
          <a:prstGeom prst="rect">
            <a:avLst/>
          </a:prstGeom>
        </p:spPr>
      </p:pic>
      <p:pic>
        <p:nvPicPr>
          <p:cNvPr id="7" name="lp_iv_og_ctry_wageH_sq.png" descr="lp_iv_og_ctry_wageH_sq.png">    </p:cNvPr>
          <p:cNvPicPr>
            <a:picLocks noChangeAspect="1"/>
          </p:cNvPicPr>
          <p:nvPr/>
        </p:nvPicPr>
        <p:blipFill>
          <a:blip r:embed="rId2"/>
          <a:stretch>
            <a:fillRect/>
          </a:stretch>
        </p:blipFill>
        <p:spPr>
          <a:xfrm>
            <a:off x="6976872" y="1783080"/>
            <a:ext cx="4023360" cy="4023360"/>
          </a:xfrm>
          <a:prstGeom prst="rect">
            <a:avLst/>
          </a:prstGeom>
        </p:spPr>
      </p:pic>
      <p:sp>
        <p:nvSpPr>
          <p:cNvPr id="8" name="Text 4"/>
          <p:cNvSpPr txBox="1"/>
          <p:nvPr/>
        </p:nvSpPr>
        <p:spPr>
          <a:xfrm>
            <a:off x="457200" y="5897880"/>
            <a:ext cx="11274552" cy="685800"/>
          </a:xfrm>
          <a:prstGeom prst="rect">
            <a:avLst/>
          </a:prstGeom>
          <a:noFill/>
          <a:ln/>
        </p:spPr>
        <p:txBody>
          <a:bodyPr wrap="square" lIns="0" tIns="0" rIns="0" bIns="0" rtlCol="0" anchor="t"/>
          <a:lstStyle/>
          <a:p>
            <a:pPr indent="0" marL="0">
              <a:buNone/>
            </a:pPr>
            <a:r>
              <a:rPr lang="en-US" sz="1000" dirty="0">
                <a:solidFill>
                  <a:srgbClr val="5B6472"/>
                </a:solidFill>
                <a:latin typeface="Arial" pitchFamily="34" charset="0"/>
                <a:ea typeface="Arial" pitchFamily="34" charset="-122"/>
                <a:cs typeface="Arial" pitchFamily="34" charset="-120"/>
              </a:rPr>
              <a:t>Response (percentage points) of year-on-year wage growth to a 10% increase in the oil and natural gas prices; 90% confidence bands. 2SLS local projections: the oil price is instrumented with the Mori–Peersman oil supply news shocks, the gas price with the Alessandri–Gazzani gas supply shocks (quarterly average of the monthly shocks). Time series for the euro area and each country, Newey–West standard errors; same vertical scale within each graph; the sample period (shock dates) of each panel is shown under its name.</a:t>
            </a:r>
            <a:endParaRPr lang="en-US" sz="1000" dirty="0"/>
          </a:p>
        </p:txBody>
      </p:sp>
      <p:sp>
        <p:nvSpPr>
          <p:cNvPr id="25" name="Slide Number Placeholder 0"/>
          <p:cNvSpPr>
            <a:spLocks noGrp="1"/>
          </p:cNvSpPr>
          <p:nvPr>
            <p:ph type="sldNum" sz="quarter" idx="4294967295"/>
          </p:nvPr>
        </p:nvSpPr>
        <p:spPr>
          <a:xfrm>
            <a:off x="1133856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472"/>
                </a:solidFill>
                <a:latin typeface="Arial"/>
                <a:ea typeface="Arial"/>
                <a:cs typeface="Arial"/>
              </a:defRPr>
            </a:lvl1pPr>
          </a:lstStyle>
          <a:p>
            <a:pPr algn="l"/>
            <a:fld id="{F7021451-1387-4CA6-816F-3879F97B5CBC}" type="slidenum">
              <a:rPr b="0" lang="en-US"/>
              <a:t>2</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rial"/>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vt:i4>
      </vt:variant>
    </vt:vector>
  </HeadingPairs>
  <TitlesOfParts>
    <vt:vector size="5" baseType="lpstr">
      <vt:lpstr>Arial</vt:lpstr>
      <vt:lpstr>Calibri</vt:lpstr>
      <vt:lpstr>Office Theme</vt:lpstr>
      <vt:lpstr>Slide 1</vt:lpstr>
      <vt:lpstr>Slide 2</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Energy price shocks and euro-area wages</dc:title>
  <dc:subject>PptxGenJS Presentation</dc:subject>
  <dc:creator>PptxGenJS</dc:creator>
  <cp:lastModifiedBy>PptxGenJS</cp:lastModifiedBy>
  <cp:revision>1</cp:revision>
  <dcterms:created xsi:type="dcterms:W3CDTF">2026-10-07T11:34:03Z</dcterms:created>
  <dcterms:modified xsi:type="dcterms:W3CDTF">2026-10-07T11:34:03Z</dcterms:modified>
</cp:coreProperties>
</file>